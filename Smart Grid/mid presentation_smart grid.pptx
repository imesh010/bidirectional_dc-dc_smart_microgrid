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77" r:id="rId2"/>
    <p:sldId id="267" r:id="rId3"/>
    <p:sldId id="268" r:id="rId4"/>
    <p:sldId id="270" r:id="rId5"/>
    <p:sldId id="280" r:id="rId6"/>
    <p:sldId id="281" r:id="rId7"/>
    <p:sldId id="283" r:id="rId8"/>
    <p:sldId id="292" r:id="rId9"/>
    <p:sldId id="269" r:id="rId10"/>
    <p:sldId id="286" r:id="rId11"/>
    <p:sldId id="282" r:id="rId12"/>
    <p:sldId id="278" r:id="rId13"/>
    <p:sldId id="279" r:id="rId14"/>
    <p:sldId id="294" r:id="rId15"/>
    <p:sldId id="284" r:id="rId16"/>
    <p:sldId id="287" r:id="rId17"/>
    <p:sldId id="295" r:id="rId18"/>
    <p:sldId id="297" r:id="rId19"/>
    <p:sldId id="291" r:id="rId20"/>
    <p:sldId id="290" r:id="rId21"/>
    <p:sldId id="289" r:id="rId22"/>
    <p:sldId id="288" r:id="rId23"/>
    <p:sldId id="293" r:id="rId24"/>
    <p:sldId id="276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60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874" y="7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2994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DD71D7-55AC-46BD-81B3-09AB2F9EFBD8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40BD58-3BFF-4EAF-BB8B-AC67FE801E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5943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89424F-BB59-4F4E-9822-4CA3E770FFD2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2CDD-9D6C-4F63-9EC2-6482266241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026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morning.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a DC microgrid, different sources operate together, and without proper coordination, the system can become unstable.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solve this, we use a droop control strategy combined with a bidirectional DC-DC converter to ensure stable and balanced operation.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main focus of our project is to maintain a stable DC bus voltage while allowing multiple energy sources, such as solar and battery storage, to share power properly.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322CDD-9D6C-4F63-9EC2-64822662410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3846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322CDD-9D6C-4F63-9EC2-64822662410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846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Today, renewable energy like solar is widely used, but the problem is that it is not constant.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DC microgrid is a localized power system where renewable sources, battery storage systems, and DC loads are connected to a common DC bus.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 the same time, many modern systems such as EVs and electronic devices operate on DC power.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But when we connect multiple sources like solar and battery to a common DC bus, we need proper power sharing to keep the system stable.”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2CDD-9D6C-4F63-9EC2-64822662410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7945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main issue in a DC microgrid is variability.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Solar power changes depending on sunlight.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Load demand changes depending on how many devices are connected.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Battery voltage changes based on its state of charge.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But even with all these changes, the DC bus voltage must remain constant.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we don’t control it properly, one source may supply too much power, which can cause instability or overloading.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2CDD-9D6C-4F63-9EC2-64822662410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94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 our objective is simple.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want to maintain a stable voltage DC bus while allowing multiple sources to share power automatically.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do that, we use a bidirectional DC-DC converter for the battery, and we implement droop control along with a PI controller.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Finally, we validate everything using simulation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2CDD-9D6C-4F63-9EC2-64822662410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3670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this project, we first designed the DC microgrid structure including the solar source, battery, DC bus, and load.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Then we modeled the battery and developed the bidirectional DC-DC converter in MATLAB/Simulink.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After that, we implemented droop control and a closed-loop PI controller for voltage regulation.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Finally, PWM switching was used to control power flow, and the complete system was simulated to analyze performance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2CDD-9D6C-4F63-9EC2-64822662410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4991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4572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our system, solar and battery are connected to a common DC bus.</a:t>
            </a:r>
          </a:p>
          <a:p>
            <a:pPr marL="0" marR="0" indent="4572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battery is connected through a bidirectional converter.</a:t>
            </a:r>
          </a:p>
          <a:p>
            <a:pPr marL="0" marR="0" indent="4572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converter works in two modes:</a:t>
            </a:r>
          </a:p>
          <a:p>
            <a:pPr marL="0" marR="0" indent="4572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excess solar power is available, it charges the battery.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load demand is high, the battery discharges and supports the DC bus.</a:t>
            </a:r>
          </a:p>
          <a:p>
            <a:pPr marL="0" marR="0" indent="4572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DC bus voltage is maintained at constant voltage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2CDD-9D6C-4F63-9EC2-64822662410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135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6800" y="2606040"/>
            <a:ext cx="10058400" cy="2743200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6800">
                <a:solidFill>
                  <a:schemeClr val="tx1"/>
                </a:solidFill>
                <a:effectLst>
                  <a:outerShdw blurRad="38100" dist="25400" dir="18900000" algn="bl" rotWithShape="0">
                    <a:schemeClr val="bg1">
                      <a:alpha val="80000"/>
                    </a:scheme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800" y="5360437"/>
            <a:ext cx="10058400" cy="36576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1" cap="all" baseline="0">
                <a:solidFill>
                  <a:schemeClr val="accent1">
                    <a:lumMod val="75000"/>
                  </a:schemeClr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5888736"/>
            <a:ext cx="12192000" cy="109728"/>
          </a:xfrm>
          <a:prstGeom prst="rect">
            <a:avLst/>
          </a:prstGeom>
          <a:ln>
            <a:noFill/>
          </a:ln>
          <a:effectLst>
            <a:outerShdw blurRad="25400" dist="25400" dir="54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EC9130 Distribution Automation and Smart Grid - MID EVALUATION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1565829"/>
            <a:ext cx="5943600" cy="411480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5400">
                <a:effectLst>
                  <a:outerShdw blurRad="38100" dist="25400" dir="18900000" algn="bl" rotWithShape="0">
                    <a:schemeClr val="bg1">
                      <a:alpha val="80000"/>
                    </a:scheme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1" y="5682343"/>
            <a:ext cx="5943600" cy="410547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200" b="1" cap="all" baseline="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7707084" y="0"/>
            <a:ext cx="54864" cy="6858000"/>
          </a:xfrm>
          <a:prstGeom prst="rect">
            <a:avLst/>
          </a:prstGeom>
          <a:ln>
            <a:noFill/>
          </a:ln>
          <a:effectLst>
            <a:outerShdw blurRad="25400" dist="254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hidden">
          <a:xfrm>
            <a:off x="7761948" y="283"/>
            <a:ext cx="4427508" cy="6856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825625"/>
            <a:ext cx="4724400" cy="41179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4724400" cy="41179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EC9130 Distribution Automation and Smart Grid - MID EVALUATION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28800"/>
            <a:ext cx="4727448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2470151"/>
            <a:ext cx="4727448" cy="347345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7628" y="1828800"/>
            <a:ext cx="4727448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9152" y="2470151"/>
            <a:ext cx="4727448" cy="347345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EC9130 Distribution Automation and Smart Grid - MID EVALUATION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EC9130 Distribution Automation and Smart Grid - MID EVALUATION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EC9130 Distribution Automation and Smart Grid - MID EVALUATION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hidden">
          <a:xfrm>
            <a:off x="7766439" y="283"/>
            <a:ext cx="4435717" cy="685628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1" y="2514600"/>
            <a:ext cx="3474720" cy="1600200"/>
          </a:xfrm>
        </p:spPr>
        <p:txBody>
          <a:bodyPr anchor="b"/>
          <a:lstStyle>
            <a:lvl1pPr>
              <a:defRPr sz="3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302" y="685800"/>
            <a:ext cx="6126480" cy="5486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0" y="4343400"/>
            <a:ext cx="3474720" cy="1188720"/>
          </a:xfrm>
        </p:spPr>
        <p:txBody>
          <a:bodyPr>
            <a:normAutofit/>
          </a:bodyPr>
          <a:lstStyle>
            <a:lvl1pPr marL="0" indent="0">
              <a:spcBef>
                <a:spcPts val="8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7711702" y="0"/>
            <a:ext cx="54864" cy="6858000"/>
          </a:xfrm>
          <a:prstGeom prst="rect">
            <a:avLst/>
          </a:prstGeom>
          <a:ln>
            <a:noFill/>
          </a:ln>
          <a:effectLst>
            <a:outerShdw blurRad="25400" dist="254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EC9130 Distribution Automation and Smart Grid - MID EVALUATION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hidden">
          <a:xfrm>
            <a:off x="7766439" y="283"/>
            <a:ext cx="4435717" cy="685628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0" y="2514600"/>
            <a:ext cx="3474720" cy="1600200"/>
          </a:xfrm>
        </p:spPr>
        <p:txBody>
          <a:bodyPr anchor="b"/>
          <a:lstStyle>
            <a:lvl1pPr>
              <a:defRPr sz="3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0" y="1325880"/>
            <a:ext cx="6858000" cy="4206240"/>
          </a:xfrm>
          <a:solidFill>
            <a:schemeClr val="bg2"/>
          </a:solidFill>
          <a:effectLst>
            <a:outerShdw blurRad="63500" sx="101000" sy="101000" algn="ctr" rotWithShape="0">
              <a:prstClr val="black">
                <a:alpha val="15000"/>
              </a:prstClr>
            </a:outerShdw>
          </a:effectLst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0" y="4343400"/>
            <a:ext cx="3474720" cy="1188720"/>
          </a:xfrm>
        </p:spPr>
        <p:txBody>
          <a:bodyPr>
            <a:normAutofit/>
          </a:bodyPr>
          <a:lstStyle>
            <a:lvl1pPr marL="0" indent="0">
              <a:spcBef>
                <a:spcPts val="8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EC9130 Distribution Automation and Smart Grid - MID EVALUATION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7711702" y="0"/>
            <a:ext cx="54864" cy="6858000"/>
          </a:xfrm>
          <a:prstGeom prst="rect">
            <a:avLst/>
          </a:prstGeom>
          <a:ln>
            <a:noFill/>
          </a:ln>
          <a:effectLst>
            <a:outerShdw blurRad="25400" dist="254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EC9130 Distribution Automation and Smart Grid - MID EVALUATION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25000" y="382230"/>
            <a:ext cx="1371600" cy="55613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400" y="382230"/>
            <a:ext cx="7863840" cy="556137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EC9130 Distribution Automation and Smart Grid - MID EVALUATION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381000"/>
            <a:ext cx="96012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28800"/>
            <a:ext cx="96012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0" y="6419462"/>
            <a:ext cx="5181600" cy="2389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EC9130 Distribution Automation and Smart Grid - MID EVALUATION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56170" y="6419462"/>
            <a:ext cx="1351383" cy="2389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98358" y="6419462"/>
            <a:ext cx="698241" cy="2389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6257036"/>
            <a:ext cx="12192000" cy="54864"/>
          </a:xfrm>
          <a:prstGeom prst="rect">
            <a:avLst/>
          </a:prstGeom>
          <a:ln>
            <a:noFill/>
          </a:ln>
          <a:effectLst>
            <a:innerShdw blurRad="25400" dist="12700" dir="16200000">
              <a:schemeClr val="accent1">
                <a:lumMod val="50000"/>
                <a:alpha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cap="all" baseline="0">
          <a:solidFill>
            <a:schemeClr val="accent1"/>
          </a:solidFill>
          <a:effectLst>
            <a:outerShdw blurRad="38100" dist="25400" dir="18900000" algn="bl" rotWithShape="0">
              <a:schemeClr val="bg1">
                <a:alpha val="80000"/>
              </a:schemeClr>
            </a:outerShdw>
          </a:effectLst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77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423160" indent="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10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9259" y="494607"/>
            <a:ext cx="11122428" cy="2743200"/>
          </a:xfrm>
        </p:spPr>
        <p:txBody>
          <a:bodyPr>
            <a:normAutofit/>
          </a:bodyPr>
          <a:lstStyle/>
          <a:p>
            <a:r>
              <a:rPr lang="en-US" sz="6000" dirty="0"/>
              <a:t>POWER SHARING METHOD FOR A DC MICROGRID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26138" y="4605251"/>
            <a:ext cx="2297084" cy="1054444"/>
          </a:xfrm>
        </p:spPr>
        <p:txBody>
          <a:bodyPr>
            <a:normAutofit fontScale="92500" lnSpcReduction="10000"/>
          </a:bodyPr>
          <a:lstStyle/>
          <a:p>
            <a:r>
              <a:rPr lang="it-IT" dirty="0"/>
              <a:t>GROUP MEMBERS  </a:t>
            </a:r>
          </a:p>
          <a:p>
            <a:r>
              <a:rPr lang="it-IT" dirty="0"/>
              <a:t>2022/E/019</a:t>
            </a:r>
          </a:p>
          <a:p>
            <a:r>
              <a:rPr lang="it-IT" dirty="0"/>
              <a:t>2022/E/020</a:t>
            </a:r>
          </a:p>
          <a:p>
            <a:r>
              <a:rPr lang="it-IT" dirty="0"/>
              <a:t>2022/E/072</a:t>
            </a:r>
          </a:p>
        </p:txBody>
      </p:sp>
    </p:spTree>
    <p:extLst>
      <p:ext uri="{BB962C8B-B14F-4D97-AF65-F5344CB8AC3E}">
        <p14:creationId xmlns:p14="http://schemas.microsoft.com/office/powerpoint/2010/main" val="353226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381000"/>
            <a:ext cx="9601200" cy="699655"/>
          </a:xfrm>
        </p:spPr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1280160"/>
            <a:ext cx="9601200" cy="4663440"/>
          </a:xfrm>
        </p:spPr>
        <p:txBody>
          <a:bodyPr/>
          <a:lstStyle/>
          <a:p>
            <a:pPr marL="502920" indent="-457200">
              <a:buFont typeface="+mj-lt"/>
              <a:buAutoNum type="arabicPeriod"/>
            </a:pPr>
            <a:r>
              <a:rPr lang="en-US" dirty="0"/>
              <a:t>INTRODUCTION</a:t>
            </a:r>
          </a:p>
          <a:p>
            <a:pPr marL="502920" indent="-457200">
              <a:buFont typeface="+mj-lt"/>
              <a:buAutoNum type="arabicPeriod"/>
            </a:pPr>
            <a:r>
              <a:rPr lang="en-US" dirty="0"/>
              <a:t>PROBLEM</a:t>
            </a:r>
          </a:p>
          <a:p>
            <a:pPr marL="502920" indent="-457200">
              <a:buFont typeface="+mj-lt"/>
              <a:buAutoNum type="arabicPeriod"/>
            </a:pPr>
            <a:r>
              <a:rPr lang="en-US" dirty="0"/>
              <a:t>OBJECTIVE</a:t>
            </a:r>
          </a:p>
          <a:p>
            <a:pPr marL="502920" indent="-457200">
              <a:buFont typeface="+mj-lt"/>
              <a:buAutoNum type="arabicPeriod"/>
            </a:pPr>
            <a:r>
              <a:rPr lang="en-US" dirty="0"/>
              <a:t>METHODOLOGY</a:t>
            </a:r>
          </a:p>
          <a:p>
            <a:pPr marL="502920" indent="-457200">
              <a:buFont typeface="+mj-lt"/>
              <a:buAutoNum type="arabicPeriod"/>
            </a:pPr>
            <a:r>
              <a:rPr lang="en-US" dirty="0"/>
              <a:t>SYATEM ARCHITECHTURE</a:t>
            </a:r>
          </a:p>
          <a:p>
            <a:pPr marL="502920" indent="-457200">
              <a:buFont typeface="+mj-lt"/>
              <a:buAutoNum type="arabicPeriod"/>
            </a:pPr>
            <a:r>
              <a:rPr lang="en-US" dirty="0"/>
              <a:t>CONTROL AND POWER MANAGEMENT </a:t>
            </a:r>
          </a:p>
          <a:p>
            <a:pPr marL="502920" indent="-457200">
              <a:buFont typeface="+mj-lt"/>
              <a:buAutoNum type="arabicPeriod"/>
            </a:pPr>
            <a:r>
              <a:rPr lang="en-US" dirty="0"/>
              <a:t>SIMULATION SETUP</a:t>
            </a:r>
          </a:p>
          <a:p>
            <a:pPr marL="502920" indent="-457200">
              <a:buFont typeface="+mj-lt"/>
              <a:buAutoNum type="arabicPeriod"/>
            </a:pPr>
            <a:r>
              <a:rPr lang="en-US" dirty="0"/>
              <a:t>PLANNED WORK FOR FINAL STAGE</a:t>
            </a:r>
          </a:p>
          <a:p>
            <a:pPr marL="502920" indent="-457200">
              <a:buFont typeface="+mj-lt"/>
              <a:buAutoNum type="arabicPeriod"/>
            </a:pPr>
            <a:r>
              <a:rPr lang="en-US" dirty="0"/>
              <a:t>CONCLUSION</a:t>
            </a:r>
          </a:p>
          <a:p>
            <a:pPr marL="502920" indent="-4572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EC9130 Distribution Automation and Smart Grid - MID EVALUATION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62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381000"/>
            <a:ext cx="9601200" cy="899160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EC9130 Distribution Automation and Smart Grid - MID EVALUATION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3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295400" y="1413163"/>
            <a:ext cx="9601200" cy="4114800"/>
          </a:xfrm>
        </p:spPr>
        <p:txBody>
          <a:bodyPr/>
          <a:lstStyle/>
          <a:p>
            <a:r>
              <a:rPr lang="en-US" dirty="0"/>
              <a:t>Renewable energy sources like solar power are increasing rapidly.</a:t>
            </a:r>
          </a:p>
          <a:p>
            <a:r>
              <a:rPr lang="en-US" dirty="0"/>
              <a:t>A DC microgrid is a local power system that connects renewable sources, battery storage, and DC loads to a common DC bus.</a:t>
            </a:r>
          </a:p>
          <a:p>
            <a:r>
              <a:rPr lang="en-US" dirty="0"/>
              <a:t>Many modern systems use DC loads such as EVs, LED lighting, and electronic devices.</a:t>
            </a:r>
          </a:p>
          <a:p>
            <a:r>
              <a:rPr lang="en-US" dirty="0"/>
              <a:t>Power sharing control  that multiple energy sources in a DC microgrid supply the load together in a balanced manner while maintaining stable system operation.</a:t>
            </a:r>
          </a:p>
        </p:txBody>
      </p:sp>
    </p:spTree>
    <p:extLst>
      <p:ext uri="{BB962C8B-B14F-4D97-AF65-F5344CB8AC3E}">
        <p14:creationId xmlns:p14="http://schemas.microsoft.com/office/powerpoint/2010/main" val="579920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381001"/>
            <a:ext cx="9601200" cy="766156"/>
          </a:xfrm>
        </p:spPr>
        <p:txBody>
          <a:bodyPr/>
          <a:lstStyle/>
          <a:p>
            <a:r>
              <a:rPr lang="en-US" dirty="0"/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326862"/>
            <a:ext cx="10275916" cy="4159539"/>
          </a:xfrm>
        </p:spPr>
        <p:txBody>
          <a:bodyPr/>
          <a:lstStyle/>
          <a:p>
            <a:r>
              <a:rPr lang="en-US" dirty="0"/>
              <a:t>Solar voltage is variable due to changes in sunlight.</a:t>
            </a:r>
          </a:p>
          <a:p>
            <a:r>
              <a:rPr lang="en-US" dirty="0"/>
              <a:t>Load demand continuously changes depending on connected devices.</a:t>
            </a:r>
          </a:p>
          <a:p>
            <a:r>
              <a:rPr lang="en-US" dirty="0"/>
              <a:t>Battery voltage varies with its state of charge (SOC).</a:t>
            </a:r>
          </a:p>
          <a:p>
            <a:r>
              <a:rPr lang="en-US" dirty="0"/>
              <a:t>However, the DC bus voltage must remain constant.</a:t>
            </a:r>
          </a:p>
          <a:p>
            <a:r>
              <a:rPr lang="en-US" dirty="0"/>
              <a:t>Without proper control, unequal power sharing can cause voltage instability or source overloading.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EC9130 Distribution Automation and Smart Grid - MID EVALUATION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435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393801"/>
            <a:ext cx="9601200" cy="766156"/>
          </a:xfrm>
        </p:spPr>
        <p:txBody>
          <a:bodyPr/>
          <a:lstStyle/>
          <a:p>
            <a:r>
              <a:rPr lang="en-US" dirty="0"/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326862"/>
            <a:ext cx="10275916" cy="4159539"/>
          </a:xfrm>
        </p:spPr>
        <p:txBody>
          <a:bodyPr/>
          <a:lstStyle/>
          <a:p>
            <a:r>
              <a:rPr lang="en-US" dirty="0"/>
              <a:t>Design and simulate a DC microgrid system with a stable DC bus voltage by integrating a battery energy storage system using a bidirectional DC-DC converter, implementing droop control for balanced power sharing.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EC9130 Distribution Automation and Smart Grid - MID EVALUATION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903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385" y="360133"/>
            <a:ext cx="9601200" cy="766156"/>
          </a:xfrm>
        </p:spPr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EC9130 Distribution Automation and Smart Grid - MID EVALUATION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6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48392" y="1494771"/>
            <a:ext cx="2460567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Design DC Microgrid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65716" y="1446105"/>
            <a:ext cx="2460567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Model Solar PV 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78922" y="1404422"/>
            <a:ext cx="2460567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Develop Bidirectional DC-DC Converter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15004" y="3115430"/>
            <a:ext cx="3028602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Implement Droop Control (</a:t>
            </a:r>
            <a:r>
              <a:rPr lang="en-US" b="1" dirty="0" err="1"/>
              <a:t>Vref</a:t>
            </a:r>
            <a:r>
              <a:rPr lang="en-US" b="1" dirty="0"/>
              <a:t> = </a:t>
            </a:r>
            <a:r>
              <a:rPr lang="en-US" b="1" dirty="0" err="1"/>
              <a:t>Vnom</a:t>
            </a:r>
            <a:r>
              <a:rPr lang="en-US" b="1" dirty="0"/>
              <a:t> − </a:t>
            </a:r>
            <a:r>
              <a:rPr lang="en-US" b="1" dirty="0" err="1"/>
              <a:t>kI</a:t>
            </a:r>
            <a:r>
              <a:rPr lang="en-US" b="1" dirty="0"/>
              <a:t>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9898" y="3115430"/>
            <a:ext cx="2528457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Apply PI Controller for Voltage Regulation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571" y="3121642"/>
            <a:ext cx="2460567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Generate PWM for MOSFET Switching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9030" y="5060366"/>
            <a:ext cx="2460567" cy="9233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Analyze Voltage, Current &amp; Power Sharing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6452" y="5116995"/>
            <a:ext cx="2460567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Simulate System in MATLAB/Simulink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447010" y="1670117"/>
            <a:ext cx="1080655" cy="2329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Arrow 17"/>
          <p:cNvSpPr/>
          <p:nvPr/>
        </p:nvSpPr>
        <p:spPr>
          <a:xfrm flipH="1">
            <a:off x="3146364" y="3382128"/>
            <a:ext cx="1080655" cy="2329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Arrow 18"/>
          <p:cNvSpPr/>
          <p:nvPr/>
        </p:nvSpPr>
        <p:spPr>
          <a:xfrm flipH="1">
            <a:off x="7186352" y="3375316"/>
            <a:ext cx="1080655" cy="2329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ight Arrow 19"/>
          <p:cNvSpPr/>
          <p:nvPr/>
        </p:nvSpPr>
        <p:spPr>
          <a:xfrm>
            <a:off x="7664333" y="1795827"/>
            <a:ext cx="1080655" cy="2329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Arrow 20"/>
          <p:cNvSpPr/>
          <p:nvPr/>
        </p:nvSpPr>
        <p:spPr>
          <a:xfrm>
            <a:off x="4409898" y="5267068"/>
            <a:ext cx="1080655" cy="2329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Arrow 21"/>
          <p:cNvSpPr/>
          <p:nvPr/>
        </p:nvSpPr>
        <p:spPr>
          <a:xfrm rot="5400000">
            <a:off x="10023414" y="2461244"/>
            <a:ext cx="571584" cy="22169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Arrow 22"/>
          <p:cNvSpPr/>
          <p:nvPr/>
        </p:nvSpPr>
        <p:spPr>
          <a:xfrm rot="5400000">
            <a:off x="1900034" y="4341784"/>
            <a:ext cx="636134" cy="2521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091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105" y="258691"/>
            <a:ext cx="9601200" cy="766156"/>
          </a:xfrm>
        </p:spPr>
        <p:txBody>
          <a:bodyPr/>
          <a:lstStyle/>
          <a:p>
            <a:r>
              <a:rPr lang="en-US" dirty="0"/>
              <a:t>SYSTEM ARCHITECHTURE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EC9130 Distribution Automation and Smart Grid - MID EVALUATION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7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1" t="7438" r="4676" b="20661"/>
          <a:stretch/>
        </p:blipFill>
        <p:spPr>
          <a:xfrm>
            <a:off x="1295400" y="1024847"/>
            <a:ext cx="9410008" cy="4821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377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381000"/>
            <a:ext cx="9601200" cy="782782"/>
          </a:xfrm>
        </p:spPr>
        <p:txBody>
          <a:bodyPr/>
          <a:lstStyle/>
          <a:p>
            <a:r>
              <a:rPr lang="en-US" dirty="0"/>
              <a:t>Control and Power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360112"/>
            <a:ext cx="9960033" cy="4242666"/>
          </a:xfrm>
        </p:spPr>
        <p:txBody>
          <a:bodyPr/>
          <a:lstStyle/>
          <a:p>
            <a:r>
              <a:rPr lang="en-US" dirty="0"/>
              <a:t>Bidirectional DC-DC Converter</a:t>
            </a:r>
          </a:p>
          <a:p>
            <a:r>
              <a:rPr lang="en-US" dirty="0"/>
              <a:t>Droop Control</a:t>
            </a:r>
          </a:p>
          <a:p>
            <a:r>
              <a:rPr lang="en-US" dirty="0"/>
              <a:t>Closed-Loop Voltage Control</a:t>
            </a:r>
          </a:p>
          <a:p>
            <a:r>
              <a:rPr lang="en-US" dirty="0"/>
              <a:t>PWM Switching Mechanism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EC9130 Distribution Automation and Smart Grid - MID EVALUATION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641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381000"/>
            <a:ext cx="9601200" cy="782782"/>
          </a:xfrm>
        </p:spPr>
        <p:txBody>
          <a:bodyPr>
            <a:normAutofit/>
          </a:bodyPr>
          <a:lstStyle/>
          <a:p>
            <a:r>
              <a:rPr lang="en-US" dirty="0"/>
              <a:t>Bidirectional DC-DC Converter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360112"/>
            <a:ext cx="9960033" cy="4242666"/>
          </a:xfrm>
        </p:spPr>
        <p:txBody>
          <a:bodyPr/>
          <a:lstStyle/>
          <a:p>
            <a:r>
              <a:rPr lang="en-US" dirty="0"/>
              <a:t>Operates in Buck mode during battery charging.</a:t>
            </a:r>
          </a:p>
          <a:p>
            <a:r>
              <a:rPr lang="en-US" dirty="0"/>
              <a:t>Operates in Boost mode during battery discharging.</a:t>
            </a:r>
          </a:p>
          <a:p>
            <a:r>
              <a:rPr lang="en-US" dirty="0"/>
              <a:t>Controls energy flow between battery and DC bus.</a:t>
            </a:r>
          </a:p>
          <a:p>
            <a:r>
              <a:rPr lang="en-US" dirty="0"/>
              <a:t>Uses MOSFET switching controlled by PWM.</a:t>
            </a:r>
          </a:p>
          <a:p>
            <a:r>
              <a:rPr lang="en-US" dirty="0"/>
              <a:t>Ensures stable and efficient power transfer.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EC9130 Distribution Automation and Smart Grid - MID EVALUATION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302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381000"/>
            <a:ext cx="9601200" cy="782782"/>
          </a:xfrm>
        </p:spPr>
        <p:txBody>
          <a:bodyPr/>
          <a:lstStyle/>
          <a:p>
            <a:r>
              <a:rPr lang="en-US" dirty="0"/>
              <a:t>Droop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360112"/>
            <a:ext cx="9960033" cy="4242666"/>
          </a:xfrm>
        </p:spPr>
        <p:txBody>
          <a:bodyPr/>
          <a:lstStyle/>
          <a:p>
            <a:r>
              <a:rPr lang="en-US" dirty="0"/>
              <a:t>Droop control adjusts the voltage reference based on output current.</a:t>
            </a:r>
          </a:p>
          <a:p>
            <a:r>
              <a:rPr lang="en-US" dirty="0"/>
              <a:t>When load increases, the reference voltage slightly decreases.</a:t>
            </a:r>
          </a:p>
          <a:p>
            <a:r>
              <a:rPr lang="en-US" dirty="0"/>
              <a:t>This enables automatic and balanced power sharing between sources.</a:t>
            </a:r>
          </a:p>
          <a:p>
            <a:r>
              <a:rPr lang="en-US" dirty="0"/>
              <a:t>No communication is required between converters.</a:t>
            </a:r>
          </a:p>
          <a:p>
            <a:r>
              <a:rPr lang="en-US" dirty="0"/>
              <a:t>The PI controller maintains the DC bus voltage constant.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EC9130 Distribution Automation and Smart Grid - MID EVALUATION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221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381000"/>
            <a:ext cx="9601200" cy="782782"/>
          </a:xfrm>
        </p:spPr>
        <p:txBody>
          <a:bodyPr/>
          <a:lstStyle/>
          <a:p>
            <a:r>
              <a:rPr lang="en-US" dirty="0"/>
              <a:t>Droop Control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EC9130 Distribution Automation and Smart Grid - MID EVALUATION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11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974987" y="1444277"/>
            <a:ext cx="25126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/>
              <a:t>Vref</a:t>
            </a:r>
            <a:r>
              <a:rPr lang="en-US" sz="2400" b="1" dirty="0"/>
              <a:t> = </a:t>
            </a:r>
            <a:r>
              <a:rPr lang="en-US" sz="2400" b="1" dirty="0" err="1"/>
              <a:t>Vnom</a:t>
            </a:r>
            <a:r>
              <a:rPr lang="en-US" sz="2400" b="1" dirty="0"/>
              <a:t> − </a:t>
            </a:r>
            <a:r>
              <a:rPr lang="en-US" sz="2400" b="1" dirty="0" err="1"/>
              <a:t>kI</a:t>
            </a:r>
            <a:endParaRPr lang="en-US" sz="2400" b="1" dirty="0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1213658" y="2472661"/>
            <a:ext cx="937052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Vnom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is the nominal DC bus voltage .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I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is the output current supplied by the converter.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k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is the droop gain that determines how much the voltage decreases with current.</a:t>
            </a:r>
          </a:p>
        </p:txBody>
      </p:sp>
    </p:spTree>
    <p:extLst>
      <p:ext uri="{BB962C8B-B14F-4D97-AF65-F5344CB8AC3E}">
        <p14:creationId xmlns:p14="http://schemas.microsoft.com/office/powerpoint/2010/main" val="482043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381000"/>
            <a:ext cx="9601200" cy="782782"/>
          </a:xfrm>
        </p:spPr>
        <p:txBody>
          <a:bodyPr/>
          <a:lstStyle/>
          <a:p>
            <a:r>
              <a:rPr lang="en-US" dirty="0"/>
              <a:t>Closed Loop Voltage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70929" y="2615334"/>
            <a:ext cx="9960033" cy="4242666"/>
          </a:xfrm>
        </p:spPr>
        <p:txBody>
          <a:bodyPr/>
          <a:lstStyle/>
          <a:p>
            <a:r>
              <a:rPr lang="pt-BR" dirty="0"/>
              <a:t>PI controller processes error</a:t>
            </a:r>
          </a:p>
          <a:p>
            <a:r>
              <a:rPr lang="pt-BR" dirty="0"/>
              <a:t>Generates duty cycle</a:t>
            </a:r>
          </a:p>
          <a:p>
            <a:r>
              <a:rPr lang="pt-BR" dirty="0"/>
              <a:t>Stabilizes DC bus voltage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EC9130 Distribution Automation and Smart Grid - MID EVALUATION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12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568929" y="1658725"/>
            <a:ext cx="26820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Error = </a:t>
            </a:r>
            <a:r>
              <a:rPr lang="en-US" sz="2400" b="1" dirty="0" err="1"/>
              <a:t>Vref</a:t>
            </a:r>
            <a:r>
              <a:rPr lang="en-US" sz="2400" b="1" dirty="0"/>
              <a:t> − </a:t>
            </a:r>
            <a:r>
              <a:rPr lang="en-US" sz="2400" b="1" dirty="0" err="1"/>
              <a:t>Vdc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15029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381000"/>
            <a:ext cx="9601200" cy="782782"/>
          </a:xfrm>
        </p:spPr>
        <p:txBody>
          <a:bodyPr/>
          <a:lstStyle/>
          <a:p>
            <a:r>
              <a:rPr lang="en-US" dirty="0"/>
              <a:t>PWM Switching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670289"/>
            <a:ext cx="9960033" cy="4242666"/>
          </a:xfrm>
        </p:spPr>
        <p:txBody>
          <a:bodyPr/>
          <a:lstStyle/>
          <a:p>
            <a:r>
              <a:rPr lang="pt-BR" dirty="0"/>
              <a:t>PWM controls MOSFET switching in the converter.</a:t>
            </a:r>
          </a:p>
          <a:p>
            <a:r>
              <a:rPr lang="pt-BR" dirty="0"/>
              <a:t>A triangular carrier is compared with PI output to generate pulses.</a:t>
            </a:r>
          </a:p>
          <a:p>
            <a:r>
              <a:rPr lang="pt-BR" dirty="0"/>
              <a:t>Duty cycle determines energy transfer.</a:t>
            </a:r>
          </a:p>
          <a:p>
            <a:r>
              <a:rPr lang="pt-BR" dirty="0"/>
              <a:t>Switching frequency is around 10 kHz.</a:t>
            </a:r>
          </a:p>
          <a:p>
            <a:r>
              <a:rPr lang="pt-BR" dirty="0"/>
              <a:t>Regulates voltage and power flow.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EC9130 Distribution Automation and Smart Grid - MID EVALUATION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328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381000"/>
            <a:ext cx="9601200" cy="782782"/>
          </a:xfrm>
        </p:spPr>
        <p:txBody>
          <a:bodyPr/>
          <a:lstStyle/>
          <a:p>
            <a:r>
              <a:rPr lang="en-US" dirty="0"/>
              <a:t>Simulation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391877"/>
            <a:ext cx="9960033" cy="4242666"/>
          </a:xfrm>
        </p:spPr>
        <p:txBody>
          <a:bodyPr/>
          <a:lstStyle/>
          <a:p>
            <a:r>
              <a:rPr lang="pt-BR" dirty="0"/>
              <a:t>Here We using mange batterry system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EC9130 Distribution Automation and Smart Grid - MID EVALUATION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14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1F65A3-305A-F195-6321-57C13EFF6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494" y="1856840"/>
            <a:ext cx="5489011" cy="4005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714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381000"/>
            <a:ext cx="9601200" cy="782782"/>
          </a:xfrm>
        </p:spPr>
        <p:txBody>
          <a:bodyPr/>
          <a:lstStyle/>
          <a:p>
            <a:r>
              <a:rPr lang="en-US" dirty="0"/>
              <a:t>Simulation Setup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EC9130 Distribution Automation and Smart Grid - MID EVALUATION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15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560AE9-2C40-FD7D-5344-465EC5A423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79854" y="1335337"/>
            <a:ext cx="8994292" cy="4448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790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381000"/>
            <a:ext cx="9601200" cy="782782"/>
          </a:xfrm>
        </p:spPr>
        <p:txBody>
          <a:bodyPr>
            <a:normAutofit/>
          </a:bodyPr>
          <a:lstStyle/>
          <a:p>
            <a:r>
              <a:rPr lang="en-US" dirty="0"/>
              <a:t>Simulation Setup - Battery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EC9130 Distribution Automation and Smart Grid - MID EVALUATION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16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0B477D-12D5-9F5E-096E-04ADA1F177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1418" y="1163782"/>
            <a:ext cx="7509164" cy="4890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97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381000"/>
            <a:ext cx="9601200" cy="782782"/>
          </a:xfrm>
        </p:spPr>
        <p:txBody>
          <a:bodyPr/>
          <a:lstStyle/>
          <a:p>
            <a:r>
              <a:rPr lang="en-US" dirty="0"/>
              <a:t>Simulation Setup - Battery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EC9130 Distribution Automation and Smart Grid - MID EVALUATION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17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3E92B1-22BE-BDB7-A011-D3F0BD24BA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256" y="1598362"/>
            <a:ext cx="4683708" cy="30490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D97A104-4A20-EE89-4F6F-1A28A68AC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4038" y="1598362"/>
            <a:ext cx="4586726" cy="3081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342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CD10C-0FFF-2322-9B52-E520BE53E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814E5-41D8-16FB-BB6D-A8A80B63B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381000"/>
            <a:ext cx="9601200" cy="782782"/>
          </a:xfrm>
        </p:spPr>
        <p:txBody>
          <a:bodyPr/>
          <a:lstStyle/>
          <a:p>
            <a:r>
              <a:rPr lang="en-US" dirty="0"/>
              <a:t>Simulation Setup - Battery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A9458-9EA6-127C-078A-B46E2B561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EC9130 Distribution Automation and Smart Grid - MID EVALUATION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CD4408-AE64-4E12-677A-00AD90006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18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0AEA35-D31B-7635-C93F-B98FF2D8AB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27256" y="1389339"/>
            <a:ext cx="5937488" cy="407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1169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381000"/>
            <a:ext cx="9601200" cy="782782"/>
          </a:xfrm>
        </p:spPr>
        <p:txBody>
          <a:bodyPr>
            <a:normAutofit/>
          </a:bodyPr>
          <a:lstStyle/>
          <a:p>
            <a:r>
              <a:rPr lang="en-US" dirty="0"/>
              <a:t>Simulation Setup - PV array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EC9130 Distribution Automation and Smart Grid - MID EVALUATION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19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5370D3-7C45-B3C3-54B9-E8DCE8ACC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069" y="1346595"/>
            <a:ext cx="8189862" cy="4164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526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381000"/>
            <a:ext cx="9601200" cy="782782"/>
          </a:xfrm>
        </p:spPr>
        <p:txBody>
          <a:bodyPr/>
          <a:lstStyle/>
          <a:p>
            <a:r>
              <a:rPr lang="en-US" dirty="0"/>
              <a:t>Simulation Setup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EC9130 Distribution Automation and Smart Grid - MID EVALUATION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20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CD5CCE-0B1C-0FBC-B085-65480FD7D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6118" y="1327331"/>
            <a:ext cx="5521763" cy="4531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339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381000"/>
            <a:ext cx="9601200" cy="782782"/>
          </a:xfrm>
        </p:spPr>
        <p:txBody>
          <a:bodyPr/>
          <a:lstStyle/>
          <a:p>
            <a:r>
              <a:rPr lang="en-US" dirty="0"/>
              <a:t>Simulation Setup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EC9130 Distribution Automation and Smart Grid - MID EVALUATION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21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997193-685F-D3C6-2B65-8D4FE9F47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713" y="1321079"/>
            <a:ext cx="8298645" cy="4618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32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381000"/>
            <a:ext cx="9601200" cy="782782"/>
          </a:xfrm>
        </p:spPr>
        <p:txBody>
          <a:bodyPr/>
          <a:lstStyle/>
          <a:p>
            <a:r>
              <a:rPr lang="en-US" dirty="0"/>
              <a:t>Planned Work for Final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670289"/>
            <a:ext cx="9960033" cy="4242666"/>
          </a:xfrm>
        </p:spPr>
        <p:txBody>
          <a:bodyPr/>
          <a:lstStyle/>
          <a:p>
            <a:r>
              <a:rPr lang="en-US" dirty="0"/>
              <a:t>Implement a control strategy to manage the current sharing between different batteries based on their State of Charge (SOC).</a:t>
            </a:r>
          </a:p>
          <a:p>
            <a:r>
              <a:rPr lang="en-US" dirty="0"/>
              <a:t>Develop a charging and discharging mechanism so that each battery operates according to its SOC level to improve efficiency and battery life.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EC9130 Distribution Automation and Smart Grid - MID EVALUATION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02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381000"/>
            <a:ext cx="9601200" cy="782782"/>
          </a:xfrm>
        </p:spPr>
        <p:txBody>
          <a:bodyPr/>
          <a:lstStyle/>
          <a:p>
            <a:r>
              <a:rPr lang="en-US" dirty="0"/>
              <a:t>CONCLUSION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470784"/>
            <a:ext cx="9960033" cy="4242666"/>
          </a:xfrm>
        </p:spPr>
        <p:txBody>
          <a:bodyPr/>
          <a:lstStyle/>
          <a:p>
            <a:r>
              <a:rPr lang="en-US" dirty="0"/>
              <a:t>A droop-controlled bidirectional converter maintains a stable voltage DC bus.</a:t>
            </a:r>
          </a:p>
          <a:p>
            <a:r>
              <a:rPr lang="en-US" dirty="0"/>
              <a:t>The combined droop control and PI-PWM mechanism enables automatic and balanced power sharing without requiring communication.</a:t>
            </a:r>
          </a:p>
          <a:p>
            <a:r>
              <a:rPr lang="en-US" dirty="0"/>
              <a:t>The proposed system improves voltage stability, reliability, and efficiency of the DC microgrid.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EC9130 Distribution Automation and Smart Grid - MID EVALUATION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770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7914" y="2248592"/>
            <a:ext cx="3736571" cy="1600200"/>
          </a:xfrm>
        </p:spPr>
        <p:txBody>
          <a:bodyPr>
            <a:normAutofit/>
          </a:bodyPr>
          <a:lstStyle/>
          <a:p>
            <a:r>
              <a:rPr lang="en-US" sz="4400" dirty="0"/>
              <a:t>THANK YOU !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EC9130 Distribution Automation and Smart Grid - MID EVALUATION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644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Red Line Business 16x9">
  <a:themeElements>
    <a:clrScheme name="RedLineBusiness_16x9">
      <a:dk1>
        <a:srgbClr val="514A40"/>
      </a:dk1>
      <a:lt1>
        <a:sysClr val="window" lastClr="FFFFFF"/>
      </a:lt1>
      <a:dk2>
        <a:srgbClr val="000000"/>
      </a:dk2>
      <a:lt2>
        <a:srgbClr val="F9F7F3"/>
      </a:lt2>
      <a:accent1>
        <a:srgbClr val="A85229"/>
      </a:accent1>
      <a:accent2>
        <a:srgbClr val="98916E"/>
      </a:accent2>
      <a:accent3>
        <a:srgbClr val="C9A645"/>
      </a:accent3>
      <a:accent4>
        <a:srgbClr val="76A7B2"/>
      </a:accent4>
      <a:accent5>
        <a:srgbClr val="82A670"/>
      </a:accent5>
      <a:accent6>
        <a:srgbClr val="896170"/>
      </a:accent6>
      <a:hlink>
        <a:srgbClr val="A85229"/>
      </a:hlink>
      <a:folHlink>
        <a:srgbClr val="98916E"/>
      </a:folHlink>
    </a:clrScheme>
    <a:fontScheme name="Cambria">
      <a:maj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siness red line presentation (widescreen).potx" id="{8018D45A-0B59-4186-B046-1FF8092889B6}" vid="{86C2525B-C90B-4FD6-8D61-5E85FA833A06}"/>
    </a:ext>
  </a:extLst>
</a:theme>
</file>

<file path=ppt/theme/theme2.xml><?xml version="1.0" encoding="utf-8"?>
<a:theme xmlns:a="http://schemas.openxmlformats.org/drawingml/2006/main" name="Office Theme">
  <a:themeElements>
    <a:clrScheme name="RedLineBusiness_16x9">
      <a:dk1>
        <a:srgbClr val="514A40"/>
      </a:dk1>
      <a:lt1>
        <a:sysClr val="window" lastClr="FFFFFF"/>
      </a:lt1>
      <a:dk2>
        <a:srgbClr val="000000"/>
      </a:dk2>
      <a:lt2>
        <a:srgbClr val="F9F7F3"/>
      </a:lt2>
      <a:accent1>
        <a:srgbClr val="A85229"/>
      </a:accent1>
      <a:accent2>
        <a:srgbClr val="98916E"/>
      </a:accent2>
      <a:accent3>
        <a:srgbClr val="C9A645"/>
      </a:accent3>
      <a:accent4>
        <a:srgbClr val="76A7B2"/>
      </a:accent4>
      <a:accent5>
        <a:srgbClr val="82A670"/>
      </a:accent5>
      <a:accent6>
        <a:srgbClr val="896170"/>
      </a:accent6>
      <a:hlink>
        <a:srgbClr val="A85229"/>
      </a:hlink>
      <a:folHlink>
        <a:srgbClr val="98916E"/>
      </a:folHlink>
    </a:clrScheme>
    <a:fontScheme name="Cambria">
      <a:maj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RedLineBusiness_16x9">
      <a:dk1>
        <a:srgbClr val="514A40"/>
      </a:dk1>
      <a:lt1>
        <a:sysClr val="window" lastClr="FFFFFF"/>
      </a:lt1>
      <a:dk2>
        <a:srgbClr val="000000"/>
      </a:dk2>
      <a:lt2>
        <a:srgbClr val="F9F7F3"/>
      </a:lt2>
      <a:accent1>
        <a:srgbClr val="A85229"/>
      </a:accent1>
      <a:accent2>
        <a:srgbClr val="98916E"/>
      </a:accent2>
      <a:accent3>
        <a:srgbClr val="C9A645"/>
      </a:accent3>
      <a:accent4>
        <a:srgbClr val="76A7B2"/>
      </a:accent4>
      <a:accent5>
        <a:srgbClr val="82A670"/>
      </a:accent5>
      <a:accent6>
        <a:srgbClr val="896170"/>
      </a:accent6>
      <a:hlink>
        <a:srgbClr val="A85229"/>
      </a:hlink>
      <a:folHlink>
        <a:srgbClr val="98916E"/>
      </a:folHlink>
    </a:clrScheme>
    <a:fontScheme name="Cambria">
      <a:maj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red line presentation (widescreen)</Template>
  <TotalTime>333</TotalTime>
  <Words>1285</Words>
  <Application>Microsoft Office PowerPoint</Application>
  <PresentationFormat>Widescreen</PresentationFormat>
  <Paragraphs>165</Paragraphs>
  <Slides>24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Cambria</vt:lpstr>
      <vt:lpstr>Red Line Business 16x9</vt:lpstr>
      <vt:lpstr>POWER SHARING METHOD FOR A DC MICROGRID</vt:lpstr>
      <vt:lpstr>content</vt:lpstr>
      <vt:lpstr>INTRODUCTION</vt:lpstr>
      <vt:lpstr>Problem</vt:lpstr>
      <vt:lpstr>OBJECTIVE</vt:lpstr>
      <vt:lpstr>METHODOLOGY</vt:lpstr>
      <vt:lpstr>SYSTEM ARCHITECHTURE</vt:lpstr>
      <vt:lpstr>Control and Power Management</vt:lpstr>
      <vt:lpstr>Bidirectional DC-DC Converter</vt:lpstr>
      <vt:lpstr>Droop Control</vt:lpstr>
      <vt:lpstr>Droop Control</vt:lpstr>
      <vt:lpstr>Closed Loop Voltage Control</vt:lpstr>
      <vt:lpstr>PWM Switching Mechanism</vt:lpstr>
      <vt:lpstr>Simulation Setup</vt:lpstr>
      <vt:lpstr>Simulation Setup</vt:lpstr>
      <vt:lpstr>Simulation Setup - Battery</vt:lpstr>
      <vt:lpstr>Simulation Setup - Battery</vt:lpstr>
      <vt:lpstr>Simulation Setup - Battery</vt:lpstr>
      <vt:lpstr>Simulation Setup - PV array</vt:lpstr>
      <vt:lpstr>Simulation Setup</vt:lpstr>
      <vt:lpstr>Simulation Setup</vt:lpstr>
      <vt:lpstr>Planned Work for Final STAGE</vt:lpstr>
      <vt:lpstr>CONCLUSION </vt:lpstr>
      <vt:lpstr>THANK YOU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SHARING METHOD FOR A DC MICRO GRID</dc:title>
  <dc:creator>ASUS</dc:creator>
  <cp:lastModifiedBy>Imesh Kavinda</cp:lastModifiedBy>
  <cp:revision>15</cp:revision>
  <dcterms:created xsi:type="dcterms:W3CDTF">2026-03-03T15:49:55Z</dcterms:created>
  <dcterms:modified xsi:type="dcterms:W3CDTF">2026-03-04T04:08:17Z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</Properties>
</file>